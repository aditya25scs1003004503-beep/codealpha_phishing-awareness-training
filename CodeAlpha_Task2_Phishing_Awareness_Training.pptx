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7.png"/><Relationship Id="rId9" Type="http://schemas.openxmlformats.org/officeDocument/2006/relationships/image" Target="../media/image-11-7.png"/><Relationship Id="rId10" Type="http://schemas.openxmlformats.org/officeDocument/2006/relationships/image" Target="../media/image-11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pic>
        <p:nvPicPr>
          <p:cNvPr id="4" name="Image 0" descr="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 ·  CYBER SECURITY INTERNSHIP  ·  TASK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251460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68680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bait. Question the request. Protect the data.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5349240"/>
            <a:ext cx="2194560" cy="0"/>
          </a:xfrm>
          <a:prstGeom prst="line">
            <a:avLst/>
          </a:prstGeom>
          <a:noFill/>
          <a:ln w="38100">
            <a:solidFill>
              <a:srgbClr val="E854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recognizing, resisting, and reporting phishing and social engineering attacks.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3055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hel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27685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391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4048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why attackers rely on 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87452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6336792" y="213055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3096" y="227685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0391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32320" y="24048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psychological triggers behind every lure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918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04672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mai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69417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456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Attacks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00200" y="38221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 phishing, smishing, vishing &amp; more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29184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6336792" y="35478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69417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45643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the Signs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32320" y="382219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phishing email &amp; fake sites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7091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804672" y="496519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11149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487375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00200" y="52395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Tactics that go beyond the inbox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80760" y="4709160"/>
            <a:ext cx="5074920" cy="1188720"/>
          </a:xfrm>
          <a:prstGeom prst="roundRect">
            <a:avLst>
              <a:gd name="adj" fmla="val 6154"/>
            </a:avLst>
          </a:prstGeom>
          <a:solidFill>
            <a:srgbClr val="F3F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6336792" y="496519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5111496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87375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&amp; Response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132320" y="52395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practices, quiz, and what to do next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social-engineering attack in which a criminal poses as a trusted person or organization to trick someone into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over credentials, money, or sensitive data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usually through a fake email, text message, phone call, or website.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rely on breaking encryption or exploiting software bugs — it relies on breaking trust.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6035040" cy="1417320"/>
          </a:xfrm>
          <a:prstGeom prst="roundRect">
            <a:avLst>
              <a:gd name="adj" fmla="val 5161"/>
            </a:avLst>
          </a:prstGeom>
          <a:solidFill>
            <a:srgbClr val="F3F5FB"/>
          </a:solidFill>
          <a:ln/>
        </p:spPr>
      </p:sp>
      <p:pic>
        <p:nvPicPr>
          <p:cNvPr id="7" name="Image 0" descr="icons/mail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9834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89204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arrives as email, text (smishing), phone calls (vishing), social media DMs, or QR codes — any channel where a message can be spoofed.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086600" y="1874520"/>
            <a:ext cx="4553712" cy="4251960"/>
          </a:xfrm>
          <a:prstGeom prst="roundRect">
            <a:avLst>
              <a:gd name="adj" fmla="val 215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7269480" y="21488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7269480" y="3246120"/>
            <a:ext cx="4160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confirmed data breaches involve a human element — a click, a call, a moment of trust.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269480" y="4434840"/>
            <a:ext cx="40233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457200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15–16%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269480" y="5029200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began with phishing as the initial point of entry.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269480" y="580644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49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Verizon 2025 Data Breach Investigations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Phishing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don't target systems first — they target instinct. Every convincing lure leans on one or more of these triggers.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F3F5FB"/>
          </a:solidFill>
          <a:ln/>
        </p:spPr>
      </p:sp>
      <p:sp>
        <p:nvSpPr>
          <p:cNvPr id="6" name="Shape 4"/>
          <p:cNvSpPr/>
          <p:nvPr/>
        </p:nvSpPr>
        <p:spPr>
          <a:xfrm>
            <a:off x="1248156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2748" y="28163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4023360"/>
            <a:ext cx="17282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account will be suspended in 24 hours” forces fast, unchecked action.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98064" y="233172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CEFF9"/>
          </a:solidFill>
          <a:ln/>
        </p:spPr>
      </p:sp>
      <p:sp>
        <p:nvSpPr>
          <p:cNvPr id="11" name="Shape 8"/>
          <p:cNvSpPr/>
          <p:nvPr/>
        </p:nvSpPr>
        <p:spPr>
          <a:xfrm>
            <a:off x="3497580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fl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172" y="28163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5224" y="356616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999232" y="4023360"/>
            <a:ext cx="17282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impersonate executives, banks, or IT to discourage questioning.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47488" y="233172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F3F5FB"/>
          </a:solidFill>
          <a:ln/>
        </p:spPr>
      </p:sp>
      <p:sp>
        <p:nvSpPr>
          <p:cNvPr id="16" name="Shape 12"/>
          <p:cNvSpPr/>
          <p:nvPr/>
        </p:nvSpPr>
        <p:spPr>
          <a:xfrm>
            <a:off x="5747004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octag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596" y="281635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356616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248656" y="4023360"/>
            <a:ext cx="17282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fines, legal trouble, or lost access short-circuit careful thinking.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296912" y="233172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ECEFF9"/>
          </a:solidFill>
          <a:ln/>
        </p:spPr>
      </p:sp>
      <p:sp>
        <p:nvSpPr>
          <p:cNvPr id="21" name="Shape 16"/>
          <p:cNvSpPr/>
          <p:nvPr/>
        </p:nvSpPr>
        <p:spPr>
          <a:xfrm>
            <a:off x="7996428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s/hel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281635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34072" y="356616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498080" y="4023360"/>
            <a:ext cx="17282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“See who viewed your profile” or a mystery invoice invites a careless click.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9546336" y="2331720"/>
            <a:ext cx="2130552" cy="3794760"/>
          </a:xfrm>
          <a:prstGeom prst="roundRect">
            <a:avLst>
              <a:gd name="adj" fmla="val 3433"/>
            </a:avLst>
          </a:prstGeom>
          <a:solidFill>
            <a:srgbClr val="F3F5FB"/>
          </a:solidFill>
          <a:ln/>
        </p:spPr>
      </p:sp>
      <p:sp>
        <p:nvSpPr>
          <p:cNvPr id="26" name="Shape 20"/>
          <p:cNvSpPr/>
          <p:nvPr/>
        </p:nvSpPr>
        <p:spPr>
          <a:xfrm>
            <a:off x="10245852" y="26517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4" descr="icons/user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0444" y="2816352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83496" y="3566160"/>
            <a:ext cx="18562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9747504" y="4023360"/>
            <a:ext cx="172821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names and logos borrow credibility from people you already trust.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6" name="Image 0" descr="icons/mai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70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Phishing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081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retailers, or services, sent to thousands at once.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53712" y="210312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11" name="Image 1" descr="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770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 Phishing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3712" y="3081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messages built around one target's name, role, or recent activity.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01584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0184" y="210312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16" name="Image 2" descr="icons/fl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22219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7706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30184" y="30815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aimed at executives — often fake wire transfer or contract requests.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21" name="Image 3" descr="icons/smart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2336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782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Smishing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093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SMS text messages with a malicious link or callback number.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25112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53712" y="411480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26" name="Image 4" descr="icons/phon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423367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782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Vishing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53712" y="5093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calls where a caller impersonates support staff, a bank, or a government agency.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01584" y="388620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3F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0184" y="4114800"/>
            <a:ext cx="548640" cy="54864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31" name="Image 5" descr="icons/glob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233672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782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Phishing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30184" y="5093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previously delivered email is copied and resent with a malicious link swapped in.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Phishing Email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49224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9050">
            <a:solidFill>
              <a:srgbClr val="D8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6492240" cy="384048"/>
          </a:xfrm>
          <a:prstGeom prst="rect">
            <a:avLst/>
          </a:prstGeom>
          <a:solidFill>
            <a:srgbClr val="ECEFF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56816"/>
            <a:ext cx="128016" cy="128016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56816"/>
            <a:ext cx="128016" cy="128016"/>
          </a:xfrm>
          <a:prstGeom prst="ellipse">
            <a:avLst/>
          </a:prstGeom>
          <a:solidFill>
            <a:srgbClr val="E8C43E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956816"/>
            <a:ext cx="128016" cy="128016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331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From: </a:t>
            </a:r>
            <a:pPr indent="0" marL="0">
              <a:buNone/>
            </a:pPr>
            <a:r>
              <a:rPr lang="en-US" sz="1100" b="1" dirty="0">
                <a:solidFill>
                  <a:srgbClr val="E85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IT-Support@secure-0ffice365.com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426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F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Subject: </a:t>
            </a:r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URGENT: Your mailbox will be suspended today!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017520"/>
            <a:ext cx="6035040" cy="0"/>
          </a:xfrm>
          <a:prstGeom prst="line">
            <a:avLst/>
          </a:prstGeom>
          <a:noFill/>
          <a:ln w="12700">
            <a:solidFill>
              <a:srgbClr val="E4E8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Your mailbox storage is FULL and access will be revoked within 24 hours unless you verify your identity immediately.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below to confirm your details and avoid permanent suspension: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800600"/>
            <a:ext cx="2103120" cy="411480"/>
          </a:xfrm>
          <a:prstGeom prst="roundRect">
            <a:avLst>
              <a:gd name="adj" fmla="val 48889"/>
            </a:avLst>
          </a:prstGeom>
          <a:solidFill>
            <a:srgbClr val="3B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8006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My Account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u="sng" dirty="0">
                <a:solidFill>
                  <a:srgbClr val="E85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bit.ly/acct-verify-2x9Q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77240" y="57150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Support 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18288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Red Flags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423160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2377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domain — a zero replaces the letter 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3081528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3081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818120" y="30358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and a countdown-style threat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0" y="3739896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37398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818120" y="369417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instead of your real name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0" y="4398264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18120" y="43525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Shortened / masked link hides the true destination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5056632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50566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18120" y="501091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pressure pushes you to skip verification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0" y="5715000"/>
            <a:ext cx="365760" cy="365760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0" y="5715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818120" y="56692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sign-off with no verifiable sender identity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a Fake Website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120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E854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212080" cy="457200"/>
          </a:xfrm>
          <a:prstGeom prst="rect">
            <a:avLst/>
          </a:prstGeom>
          <a:solidFill>
            <a:srgbClr val="ECEFF9"/>
          </a:solidFill>
          <a:ln/>
        </p:spPr>
      </p:sp>
      <p:pic>
        <p:nvPicPr>
          <p:cNvPr id="6" name="Image 0" descr="icons/xcircle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7510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87452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indent="0" marL="0">
              <a:buNone/>
            </a:pPr>
            <a:r>
              <a:rPr lang="en-US" sz="1250" b="1" dirty="0">
                <a:solidFill>
                  <a:srgbClr val="E854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paypa1-secure-login.net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24414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• no valid padlock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2F9E6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3640" y="1874520"/>
            <a:ext cx="5349240" cy="457200"/>
          </a:xfrm>
          <a:prstGeom prst="rect">
            <a:avLst/>
          </a:prstGeom>
          <a:solidFill>
            <a:srgbClr val="ECEFF9"/>
          </a:solidFill>
          <a:ln/>
        </p:spPr>
      </p:sp>
      <p:pic>
        <p:nvPicPr>
          <p:cNvPr id="11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751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66560" y="1874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paypal.com</a:t>
            </a:r>
            <a:pPr indent="0" marL="0">
              <a:buNone/>
            </a:pPr>
            <a:r>
              <a:rPr lang="en-US" sz="1250" b="1" dirty="0">
                <a:solidFill>
                  <a:srgbClr val="889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/signin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492240" y="244144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domain • verified padlock (HTTPS)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679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7033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a valid padlock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234440" y="403250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alone isn't proof of safety, but its absence is an instant red flag.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26480" y="3749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867912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12280" y="37033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domain carefully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6812280" y="403250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swapped letters, extra words, or an unfamiliar top-level domain.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4864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icons/ey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510235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4937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 before you click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234440" y="526694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on desktop or long-press on mobile to preview the real URL.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126480" y="4983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icons/octago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510235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12280" y="49377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Distrust urgency pop-ups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6812280" y="526694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 timers and “account locked” banners are pressure tactics, not facts.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Beyond the Inbox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one channel in a broader playbook. Attackers combine these tactics with digital lures for maximum effect.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1440180" y="2651760"/>
            <a:ext cx="731520" cy="73152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7" name="Image 0" descr="icons/user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81635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Pretexting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31520" y="40233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Inventing a false scenario — a fake auditor or new hire — to extract information.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9272" y="23317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41B4D"/>
          </a:solidFill>
          <a:ln/>
        </p:spPr>
      </p:sp>
      <p:sp>
        <p:nvSpPr>
          <p:cNvPr id="11" name="Shape 8"/>
          <p:cNvSpPr/>
          <p:nvPr/>
        </p:nvSpPr>
        <p:spPr>
          <a:xfrm>
            <a:off x="4210812" y="2651760"/>
            <a:ext cx="731520" cy="73152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12" name="Image 1" descr="icons/targe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281635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Baiting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02152" y="40233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an infected USB drive or a “free download” link for curiosity to take over.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89904" y="23317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41B4D"/>
          </a:solidFill>
          <a:ln/>
        </p:spPr>
      </p:sp>
      <p:sp>
        <p:nvSpPr>
          <p:cNvPr id="16" name="Shape 12"/>
          <p:cNvSpPr/>
          <p:nvPr/>
        </p:nvSpPr>
        <p:spPr>
          <a:xfrm>
            <a:off x="6981444" y="2651760"/>
            <a:ext cx="731520" cy="73152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17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036" y="281635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27064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Tailgating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272784" y="40233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an employee through a secured door without their own badge access.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860536" y="233172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41B4D"/>
          </a:solidFill>
          <a:ln/>
        </p:spPr>
      </p:sp>
      <p:sp>
        <p:nvSpPr>
          <p:cNvPr id="21" name="Shape 16"/>
          <p:cNvSpPr/>
          <p:nvPr/>
        </p:nvSpPr>
        <p:spPr>
          <a:xfrm>
            <a:off x="9752076" y="2651760"/>
            <a:ext cx="731520" cy="73152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22" name="Image 3" descr="icons/phon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6668" y="2816352"/>
            <a:ext cx="402336" cy="40233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97696" y="35661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Quid Pro Quo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043416" y="4023360"/>
            <a:ext cx="2148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fake tech support or a prize in exchange for login details.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CEO Fraud (Business Email Compromise)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research a company's leadership on LinkedIn and identify who approves payments.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0100" y="2404872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53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5526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in finance receives an urgent email that appears to be from the CEO, marked “confidential.”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" y="3483864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325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0050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pressure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34440" y="433425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asks for a wire transfer to close a deal today, stressing secrecy and speed.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" y="4562856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114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0840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41324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Believing it's a real, time-sensitive request, the employee sends funds to the attacker's account.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1874520"/>
            <a:ext cx="4553712" cy="4251960"/>
          </a:xfrm>
          <a:prstGeom prst="roundRect">
            <a:avLst>
              <a:gd name="adj" fmla="val 2151"/>
            </a:avLst>
          </a:prstGeom>
          <a:solidFill>
            <a:srgbClr val="F3F5FB"/>
          </a:solidFill>
          <a:ln/>
        </p:spPr>
      </p:sp>
      <p:pic>
        <p:nvPicPr>
          <p:cNvPr id="24" name="Image 0" descr="icons/octagon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48840"/>
            <a:ext cx="502920" cy="502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743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could have been stopped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60920" y="3520440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27" name="Text 24"/>
          <p:cNvSpPr/>
          <p:nvPr/>
        </p:nvSpPr>
        <p:spPr>
          <a:xfrm>
            <a:off x="7818120" y="344728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unusual payment requests by phone, using a known number — not one in the email.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60920" y="4361688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29" name="Text 26"/>
          <p:cNvSpPr/>
          <p:nvPr/>
        </p:nvSpPr>
        <p:spPr>
          <a:xfrm>
            <a:off x="7818120" y="4288536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dual-approval rule for wire transfers above a set threshold.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60920" y="5202936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31" name="Text 28"/>
          <p:cNvSpPr/>
          <p:nvPr/>
        </p:nvSpPr>
        <p:spPr>
          <a:xfrm>
            <a:off x="7818120" y="512978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“urgent and confidential” as a reason to slow down, not speed up.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Fake Delivery Notification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4708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message arrives claiming a package couldn't be delivered due to an unpaid customs fee.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0100" y="2404872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5351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53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926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lure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234440" y="3255264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link leads to a page that closely mimics a real courier's website and branding.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" y="3483864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03250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400507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pressure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234440" y="4334256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“fee” of a few dollars feels low-risk, so the target enters card details without hesitation.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" y="4562856"/>
            <a:ext cx="0" cy="5029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1149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4440" y="508406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34440" y="541324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 details are harvested and used for fraudulent charges or resold on criminal marketplaces.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086600" y="1874520"/>
            <a:ext cx="4553712" cy="4251960"/>
          </a:xfrm>
          <a:prstGeom prst="roundRect">
            <a:avLst>
              <a:gd name="adj" fmla="val 2151"/>
            </a:avLst>
          </a:prstGeom>
          <a:solidFill>
            <a:srgbClr val="F3F5FB"/>
          </a:solidFill>
          <a:ln/>
        </p:spPr>
      </p:sp>
      <p:pic>
        <p:nvPicPr>
          <p:cNvPr id="24" name="Image 0" descr="icons/octagon_co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48840"/>
            <a:ext cx="502920" cy="5029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60920" y="27432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could have been stopped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60920" y="3520440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27" name="Text 24"/>
          <p:cNvSpPr/>
          <p:nvPr/>
        </p:nvSpPr>
        <p:spPr>
          <a:xfrm>
            <a:off x="7818120" y="3447288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directly to the courier's official app or site instead of tapping a text link.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360920" y="4361688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29" name="Text 26"/>
          <p:cNvSpPr/>
          <p:nvPr/>
        </p:nvSpPr>
        <p:spPr>
          <a:xfrm>
            <a:off x="7818120" y="4288536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that legitimate carriers rarely request card details by SMS.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360920" y="5202936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31" name="Text 28"/>
          <p:cNvSpPr/>
          <p:nvPr/>
        </p:nvSpPr>
        <p:spPr>
          <a:xfrm>
            <a:off x="7818120" y="5129784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“small fee to unlock a big problem” message with suspicion.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Practices: Do's and Don'ts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F3F5FB"/>
          </a:solidFill>
          <a:ln/>
        </p:spPr>
      </p:sp>
      <p:pic>
        <p:nvPicPr>
          <p:cNvPr id="5" name="Image 0" descr="icons/thumbsu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</a:t>
            </a:r>
            <a:endParaRPr lang="en-US" sz="2200" dirty="0"/>
          </a:p>
        </p:txBody>
      </p:sp>
      <p:pic>
        <p:nvPicPr>
          <p:cNvPr id="7" name="Image 1" descr="icons/che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7157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requests for money or credentials through a second, known channel.</a:t>
            </a:r>
            <a:endParaRPr lang="en-US" sz="1150" dirty="0"/>
          </a:p>
        </p:txBody>
      </p:sp>
      <p:pic>
        <p:nvPicPr>
          <p:cNvPr id="9" name="Image 2" descr="icons/check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1188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80160" y="35387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 and check the real sender address before clicking.</a:t>
            </a:r>
            <a:endParaRPr lang="en-US" sz="1150" dirty="0"/>
          </a:p>
        </p:txBody>
      </p:sp>
      <p:pic>
        <p:nvPicPr>
          <p:cNvPr id="11" name="Image 3" descr="icons/chec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43484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0160" y="43616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on every important account.</a:t>
            </a:r>
            <a:endParaRPr lang="en-US" sz="1150" dirty="0"/>
          </a:p>
        </p:txBody>
      </p:sp>
      <p:pic>
        <p:nvPicPr>
          <p:cNvPr id="13" name="Image 4" descr="icons/check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25780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80160" y="51846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messages to IT or security immediately.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6217920" y="1828800"/>
            <a:ext cx="5394960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/>
        </p:spPr>
      </p:sp>
      <p:pic>
        <p:nvPicPr>
          <p:cNvPr id="16" name="Image 5" descr="icons/thumbsdown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103120"/>
            <a:ext cx="457200" cy="4572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32320" y="2103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</a:t>
            </a:r>
            <a:endParaRPr lang="en-US" sz="2200" dirty="0"/>
          </a:p>
        </p:txBody>
      </p:sp>
      <p:pic>
        <p:nvPicPr>
          <p:cNvPr id="18" name="Image 6" descr="icons/xcircle_cor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2788920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6949440" y="271576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 links or open attachments from unexpected senders.</a:t>
            </a:r>
            <a:endParaRPr lang="en-US" sz="1150" dirty="0"/>
          </a:p>
        </p:txBody>
      </p:sp>
      <p:pic>
        <p:nvPicPr>
          <p:cNvPr id="20" name="Image 7" descr="icons/xcircle_cor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3611880"/>
            <a:ext cx="292608" cy="29260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6949440" y="35387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act on urgency alone — pause and verify first.</a:t>
            </a:r>
            <a:endParaRPr lang="en-US" sz="1150" dirty="0"/>
          </a:p>
        </p:txBody>
      </p:sp>
      <p:pic>
        <p:nvPicPr>
          <p:cNvPr id="22" name="Image 8" descr="icons/xcircle_coral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434840"/>
            <a:ext cx="292608" cy="29260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949440" y="436168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reuse passwords across personal and work accounts.</a:t>
            </a:r>
            <a:endParaRPr lang="en-US" sz="1150" dirty="0"/>
          </a:p>
        </p:txBody>
      </p:sp>
      <p:pic>
        <p:nvPicPr>
          <p:cNvPr id="24" name="Image 9" descr="icons/xcircle_coral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5257800"/>
            <a:ext cx="292608" cy="29260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6949440" y="51846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one-time codes or passwords with anyone, ever.</a:t>
            </a:r>
            <a:endParaRPr lang="en-US" sz="1150" dirty="0"/>
          </a:p>
        </p:txBody>
      </p:sp>
      <p:sp>
        <p:nvSpPr>
          <p:cNvPr id="2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Suspect Phishing — or Clicked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3F5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594360" cy="594360"/>
          </a:xfrm>
          <a:prstGeom prst="ellipse">
            <a:avLst/>
          </a:prstGeom>
          <a:solidFill>
            <a:srgbClr val="2F9E64"/>
          </a:solidFill>
          <a:ln/>
        </p:spPr>
      </p:sp>
      <p:pic>
        <p:nvPicPr>
          <p:cNvPr id="6" name="Image 0" descr="icons/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408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7627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spotted it in time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3063240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34440" y="299008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click, reply, or forward it.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813048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34440" y="373989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via your email client's “Report Phishing” button.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562856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34440" y="448970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message once it's reported.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22960" y="5312664"/>
            <a:ext cx="292608" cy="292608"/>
          </a:xfrm>
          <a:prstGeom prst="ellipse">
            <a:avLst/>
          </a:prstGeom>
          <a:solidFill>
            <a:srgbClr val="2F9E64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5312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34440" y="523951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colleagues if it looks like a targeted campaign.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72200" y="1920240"/>
            <a:ext cx="5257800" cy="4251960"/>
          </a:xfrm>
          <a:prstGeom prst="roundRect">
            <a:avLst>
              <a:gd name="adj" fmla="val 2151"/>
            </a:avLst>
          </a:prstGeom>
          <a:solidFill>
            <a:srgbClr val="F3F5FB"/>
          </a:solidFill>
          <a:ln/>
        </p:spPr>
      </p:sp>
      <p:sp>
        <p:nvSpPr>
          <p:cNvPr id="21" name="Shape 18"/>
          <p:cNvSpPr/>
          <p:nvPr/>
        </p:nvSpPr>
        <p:spPr>
          <a:xfrm>
            <a:off x="6446520" y="2194560"/>
            <a:ext cx="594360" cy="594360"/>
          </a:xfrm>
          <a:prstGeom prst="ellipse">
            <a:avLst/>
          </a:prstGeom>
          <a:solidFill>
            <a:srgbClr val="E8543E"/>
          </a:solidFill>
          <a:ln/>
        </p:spPr>
      </p:sp>
      <p:pic>
        <p:nvPicPr>
          <p:cNvPr id="22" name="Image 1" descr="icons/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2340864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178040" y="2176272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clicked or shared details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6446520" y="3063240"/>
            <a:ext cx="292608" cy="29260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5" name="Text 21"/>
          <p:cNvSpPr/>
          <p:nvPr/>
        </p:nvSpPr>
        <p:spPr>
          <a:xfrm>
            <a:off x="6446520" y="3063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858000" y="299008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the device from the network if malware is suspected.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46520" y="3813048"/>
            <a:ext cx="292608" cy="29260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8" name="Text 24"/>
          <p:cNvSpPr/>
          <p:nvPr/>
        </p:nvSpPr>
        <p:spPr>
          <a:xfrm>
            <a:off x="6446520" y="3813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858000" y="373989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affected password immediately, from a different device.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46520" y="4562856"/>
            <a:ext cx="292608" cy="29260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31" name="Text 27"/>
          <p:cNvSpPr/>
          <p:nvPr/>
        </p:nvSpPr>
        <p:spPr>
          <a:xfrm>
            <a:off x="6446520" y="4562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6858000" y="448970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or verify multi-factor authentication on the account.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46520" y="5312664"/>
            <a:ext cx="292608" cy="29260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34" name="Text 30"/>
          <p:cNvSpPr/>
          <p:nvPr/>
        </p:nvSpPr>
        <p:spPr>
          <a:xfrm>
            <a:off x="6446520" y="5312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6858000" y="523951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IT/security right away — speed limits the damage.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Quiz: Spot the Phish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— discuss each with the group before revealing the answers on the next slide.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95144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95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padlock icon in the browser guarantees a website is completely safe.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90088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136392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36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371600" y="299008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language like “act now or lose access” is a common phishing red flag.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977640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371600" y="383133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 is a generic email blast sent to thousands of random addresses.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818888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8188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71600" y="467258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over a link before clicking can reveal its true destination.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513832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660136"/>
            <a:ext cx="384048" cy="384048"/>
          </a:xfrm>
          <a:prstGeom prst="ellipse">
            <a:avLst/>
          </a:prstGeom>
          <a:solidFill>
            <a:srgbClr val="E8543E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660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371600" y="55138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safe to enter your password if a text message includes your correct name.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5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Answers &amp; Explanations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54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874520"/>
            <a:ext cx="9646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only encrypts the connection — attackers can and do buy padlocks for fake sites too.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2F9E6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770632"/>
            <a:ext cx="9646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 is designed to make you act before you think to verify.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543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66744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4107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65960" y="3666744"/>
            <a:ext cx="9646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describes email phishing. Spear phishing is personalized to one specific target.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62856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2F9E6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62856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3068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4562856"/>
            <a:ext cx="9646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Hovering (or long-pressing on mobile) previews the real URL before you commit to a click.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458968"/>
            <a:ext cx="1234440" cy="713232"/>
          </a:xfrm>
          <a:prstGeom prst="roundRect">
            <a:avLst>
              <a:gd name="adj" fmla="val 10256"/>
            </a:avLst>
          </a:prstGeom>
          <a:solidFill>
            <a:srgbClr val="E8543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58968"/>
            <a:ext cx="1234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2029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65960" y="5458968"/>
            <a:ext cx="9646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often already have your name from data leaks — a correct name proves nothing.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Alert. Stay Secure.</a:t>
            </a:r>
            <a:endParaRPr lang="en-US" sz="3800" dirty="0"/>
          </a:p>
        </p:txBody>
      </p:sp>
      <p:pic>
        <p:nvPicPr>
          <p:cNvPr id="6" name="Image 0" descr="icons/shield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299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trust and emotion, not software flaws — slow down before you act.</a:t>
            </a:r>
            <a:endParaRPr lang="en-US" sz="1500" dirty="0"/>
          </a:p>
        </p:txBody>
      </p:sp>
      <p:pic>
        <p:nvPicPr>
          <p:cNvPr id="8" name="Image 1" descr="icons/shield_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718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8986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sender, the link, and the tone before clicking or replying.</a:t>
            </a:r>
            <a:endParaRPr lang="en-US" sz="1500" dirty="0"/>
          </a:p>
        </p:txBody>
      </p:sp>
      <p:pic>
        <p:nvPicPr>
          <p:cNvPr id="10" name="Image 2" descr="icons/shield_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8404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76732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through a separate, known channel — and report it.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5074920"/>
            <a:ext cx="1042416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— Task 2: Phishing Awareness Training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2026-07-11T09:28:43Z</dcterms:created>
  <dcterms:modified xsi:type="dcterms:W3CDTF">2026-07-11T09:28:43Z</dcterms:modified>
</cp:coreProperties>
</file>